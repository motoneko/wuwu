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783080"/>
            <a:ext cx="384048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783080"/>
            <a:ext cx="384048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1783080"/>
            <a:ext cx="384048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783080"/>
            <a:ext cx="384048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FFFFF"/>
                </a:solidFill>
                <a:latin typeface="微软雅黑"/>
                <a:ea typeface="微软雅黑"/>
              </a:rPr>
              <a:t>Pixel 影像进化方向与迭代策略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27248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>
                <a:solidFill>
                  <a:srgbClr val="BDC1C6"/>
                </a:solidFill>
                <a:latin typeface="微软雅黑"/>
                <a:ea typeface="微软雅黑"/>
              </a:rPr>
              <a:t>交叉验证修订版｜整机产品经理视角｜Pixel 1–10 全系硬件策略与「硬件 for 软件」论证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977639"/>
            <a:ext cx="11155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BBC05"/>
                </a:solidFill>
                <a:latin typeface="微软雅黑"/>
                <a:ea typeface="微软雅黑"/>
              </a:rPr>
              <a:t>本版变化：经多来源交叉验证，修正 3 条原结论、新增 3 条结论（▲修正 ●新增）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34924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</a:rPr>
              <a:t>资料来源：Google 官方博客 / Google Research 技术博客 / Google I/O / Made by Google 发布会（2023–2025）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</a:rPr>
              <a:t>核心人物访谈（Marc Levoy、Isaac Reynolds）/ DXOMARK / DPReview / Washington Post / PhoneArena</a:t>
            </a:r>
          </a:p>
          <a:p>
            <a:pPr algn="l">
              <a:lnSpc>
                <a:spcPct val="130000"/>
              </a:lnSpc>
            </a:pPr>
            <a:r>
              <a:rPr sz="1100" b="0">
                <a:solidFill>
                  <a:srgbClr val="5F6368"/>
                </a:solidFill>
                <a:latin typeface="微软雅黑"/>
                <a:ea typeface="微软雅黑"/>
              </a:rPr>
              <a:t>Android Authority / TechRadar / Tom's Guide / Counterpoint 市场数据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目录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影像进化策略报告（修订版）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417320"/>
            <a:ext cx="82296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371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19" y="13898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Pixel 1–10 影像硬件总览矩阵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057400"/>
            <a:ext cx="82296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20116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19" y="20299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Pixel 1–7 阶段策略复盘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77240" y="2697479"/>
            <a:ext cx="82296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05840" y="2651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19" y="267004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Pixel 8 系列影像（补齐）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77240" y="3337559"/>
            <a:ext cx="82296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2918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19" y="331012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Pixel 9 发布会硬件宣传方式（补齐）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77240" y="3977639"/>
            <a:ext cx="82296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05840" y="3931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19" y="395020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Pixel 10 发布会硬件宣传方式（补齐）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77240" y="4617720"/>
            <a:ext cx="82296" cy="36576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05840" y="45720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45919" y="45902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Pixel 9 vs 10 硬件参数对比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77240" y="5257799"/>
            <a:ext cx="82296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5212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A853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45919" y="523036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四阶段进化模型（含组织证据）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5897879"/>
            <a:ext cx="82296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05840" y="585215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A853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45919" y="587044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核心决策与权衡判断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400800" y="1417320"/>
            <a:ext cx="82296" cy="3657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29400" y="13716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4335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13898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核心结论（交叉验证修订版 8 条）▲●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400800" y="2057400"/>
            <a:ext cx="82296" cy="3657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629400" y="201168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4335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69480" y="202996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影像调教哲学 ●新增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0" y="2697479"/>
            <a:ext cx="82296" cy="3657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29400" y="265176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4335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267004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硬件 for 软件｜三层拆解 ▲修正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400800" y="3337559"/>
            <a:ext cx="82296" cy="3657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629400" y="329183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C05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69480" y="331012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硬件 ↔ AI 功能支撑映射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400800" y="3977639"/>
            <a:ext cx="82296" cy="3657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29400" y="393192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BBC05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395020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Tensor ↔ 影像 AI 演进对照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00800" y="4617720"/>
            <a:ext cx="82296" cy="36576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29400" y="4572000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4335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269480" y="4590288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第三方交叉验证：DXOMARK ●新增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400800" y="5257799"/>
            <a:ext cx="82296" cy="36576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29400" y="5212079"/>
            <a:ext cx="6400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A853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269480" y="5230367"/>
            <a:ext cx="4572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202124"/>
                </a:solidFill>
                <a:latin typeface="微软雅黑"/>
                <a:ea typeface="微软雅黑"/>
              </a:rPr>
              <a:t>未来路径预测 ＆ 一句话总结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1–10 影像硬件总览矩阵 ─ 标准版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十年硬件演进一图速览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5478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926080"/>
                <a:gridCol w="320040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代次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主摄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超广角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长焦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1–3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12.2MP 单摄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4 / 4 XL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12.2MP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16MP, 1.0µm, f/2.4, ~48mm（≈1.7x）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12.2MP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16MP, 1.0µm, f/2.2, 107°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6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1/1.31"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12MP, 1.25µm, f/2.2, 114°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7–8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1/1.31"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12MP, 1/2.9", 1.25µm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9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1/1.31"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f/1.7, 123°, 1/2.55", PDAF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—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10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1/2"  ▼降档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13MP, f/2.2, 120°, 1/3.1"  ▼降档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10.8MP, 1/3.2", f/3.1, 5x 光学  ★新增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486400"/>
            <a:ext cx="73152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486400"/>
            <a:ext cx="11082528" cy="7772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300" b="1">
                <a:solidFill>
                  <a:srgbClr val="202124"/>
                </a:solidFill>
                <a:latin typeface="微软雅黑"/>
                <a:ea typeface="微软雅黑"/>
              </a:rPr>
              <a:t>★ Pixel 10 标准版：用 5x 长焦下放换主摄 / 超广降档 →「焦段完整性优先于单颗规格」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1–10 影像硬件总览矩阵 ─ Pro 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Pixel 6 起 Pro 三摄结构 4 代未变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28620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80"/>
                <a:gridCol w="3017520"/>
                <a:gridCol w="32004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代次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主摄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超广角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长焦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6 Pro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1/1.31"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12MP, f/2.2, 114°, 1.25µm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1/2", f/3.5, 4x 光学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7 Pro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1/1.31"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12MP, f/2.2, 125.8°, 1/2.9"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1/2.55", OIS, 5x 光学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8 Pro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1/1.31"（GN2）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f/1.95, 1/2.0", 125.5°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f/2.8, 1/2.55", PDAF, OIS, 5x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9 Pro / XL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1/1.31"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f/1.7, 1/2.55", 123°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1/2.55", OIS, 5x 光学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02920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10 Pro / XL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1/1.3"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f/1.7, 1/2.55", 123°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f/2.8, 113mm, 5x, OIS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120640"/>
            <a:ext cx="73152" cy="10058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120640"/>
            <a:ext cx="11082528" cy="10058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300" b="1">
                <a:solidFill>
                  <a:srgbClr val="202124"/>
                </a:solidFill>
                <a:latin typeface="微软雅黑"/>
                <a:ea typeface="微软雅黑"/>
              </a:rPr>
              <a:t>★ Pixel 8 Pro = 硬件最后一次大改（三摄全 48MP+ 级、光量大升）</a:t>
            </a:r>
          </a:p>
          <a:p>
            <a:r>
              <a:rPr sz="1300" b="1">
                <a:solidFill>
                  <a:srgbClr val="202124"/>
                </a:solidFill>
                <a:latin typeface="微软雅黑"/>
                <a:ea typeface="微软雅黑"/>
              </a:rPr>
              <a:t>★ Pixel 9 Pro → 10 Pro 硬件几乎不变，变焦却从 30x → 100x ─ 差异化已交给 AI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1–7 阶段策略复盘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动作 → 逻辑 → 结果（含商业与人事证据）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11480" y="1417320"/>
          <a:ext cx="11384279" cy="46268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3437"/>
                <a:gridCol w="3146874"/>
                <a:gridCol w="3517094"/>
                <a:gridCol w="3146874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代次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硬件动作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背后逻辑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结果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1–3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12MP 单摄，无超广无长焦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「计算摄影」：单摄+AI 证明软件可重构手机摄影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DXO 击败传统双/三/四摄旗舰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4 / 4 XL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首次单→双：加 16MP 1.7x 长焦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强化「Pixel 化」场景：变焦、人像、远景裁切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焦段落后被吐槽；商业失败：两季度仅约 200 万台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取消长焦、加 16MP 107° 超广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2020 年超广已成「主流必需」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路线摇摆；同年 3 月计算摄影负责人 Marc Levoy 离职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6 ★拐点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自研 Tensor G1；50MP 平台重启；Pro 三摄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① 12.2MP 算法到顶 ② Tensor 需要影像平台 ③ 对商业失败的纠错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硬件大升级起点，奠定 50MP 黄金平台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7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长焦 4x→5x，1/2.55"+OIS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服务远摄与 10x 裁切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进入「硬件稳定、算法迭代」节奏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8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主摄换 GN2（+35% 光）；Pro 全模组升级；标准版超广加 AF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给生成式 AI 编辑功能更好的「原材料」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Best Take / Magic Editor / Video Boost 集中爆发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8 系列影像 ─ 核心硬件（补齐）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Made by Google 2023.10.04 发布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25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Pixel 8（标准版）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37360"/>
          <a:ext cx="5486398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59"/>
                <a:gridCol w="420623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模组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配置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主摄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 OctaPD, f/1.68, 1/1.31"（GN2，光量+21%）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超广角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12MP, f/2.2, 125.8°, 1/2.9"</a:t>
                      </a:r>
                    </a:p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★首次加 AF → Macro Focus 下放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前摄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10.5MP DualPD, AF, 95°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视频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4K 24/30/60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132588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EA4335"/>
                </a:solidFill>
                <a:latin typeface="微软雅黑"/>
                <a:ea typeface="微软雅黑"/>
              </a:rPr>
              <a:t>Pixel 8 Pro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737360"/>
          <a:ext cx="5349240" cy="26151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1605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模组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配置｜同代变化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主摄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f/1.68, 1/1.31"｜换 Samsung GN2，光量+35%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超广角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f/1.95, 1/2.0"｜光量+105%，对焦-30%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长焦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f/2.8, 5x, OIS, PDAF｜12→48MP，光量+56%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前摄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10.5MP DualPD｜首次加 AF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502920" y="5212080"/>
            <a:ext cx="73152" cy="10972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76072" y="5212080"/>
            <a:ext cx="11128248" cy="109728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50" b="1">
                <a:solidFill>
                  <a:srgbClr val="202124"/>
                </a:solidFill>
                <a:latin typeface="微软雅黑"/>
                <a:ea typeface="微软雅黑"/>
              </a:rPr>
              <a:t>系列定位：「硬件给生成式 AI 喂素材」的集中爆发期</a:t>
            </a:r>
          </a:p>
          <a:p>
            <a:r>
              <a:rPr sz="1250" b="1">
                <a:solidFill>
                  <a:srgbClr val="202124"/>
                </a:solidFill>
                <a:latin typeface="微软雅黑"/>
                <a:ea typeface="微软雅黑"/>
              </a:rPr>
              <a:t>所有硬件升级用「光量提升 %」表达 ─ 给 Best Take / Magic Editor / Video Boost 更好的原材料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8 系列 ─ 官网与发布会宣传方式（补齐）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store.google.com + Made by Google 2023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9" cy="2679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4754880"/>
                <a:gridCol w="47548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Pixel 8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Pixel 8 Pro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官网主标题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"The Google AI phone with the best</a:t>
                      </a:r>
                    </a:p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Camera yet"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"The all-pro Google phone."</a:t>
                      </a:r>
                    </a:p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"Award-winning camera. Pro-level photos."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副 tagline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"Super helpful" AI 助手叙事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Controls（手动 ISO/快门/白平衡 + 50MP RAW）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7772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影像卖点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Best Take / Magic Editor / Macro Focus /</a:t>
                      </a:r>
                    </a:p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Audio Magic Eraser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＋Video Boost / Night Sight Video /</a:t>
                      </a:r>
                    </a:p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Controls / Zoom Enhance（Pro 独享）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4069080"/>
          <a:ext cx="11155679" cy="25420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19"/>
                <a:gridCol w="950976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发布会维度</a:t>
                      </a:r>
                    </a:p>
                  </a:txBody>
                  <a:tcPr marL="54864" marR="54864" marT="18288" marB="18288" anchor="ctr">
                    <a:solidFill>
                      <a:srgbClr val="5F63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宣传方式</a:t>
                      </a:r>
                    </a:p>
                  </a:txBody>
                  <a:tcPr marL="54864" marR="54864" marT="18288" marB="18288" anchor="ctr">
                    <a:solidFill>
                      <a:srgbClr val="5F6368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整体叙事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「Built Different」+ NBA 合作（Jimmy Butler、Giannis）；AI 是核心卖点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硬件话术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不堆参数，用「光量提升 %」表达硬件意义：主摄 +35%、超广 +105%、长焦 +56%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软硬耦合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G3 = "AI-first processor"，"paving the way for on-device generative AI"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差异化硬件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温度传感器（Pro 独享）首次出现在智能手机，强化 Pro 身份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9 系列 ─ 发布会硬件宣传方式（补齐）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Made by Google 2024.08.13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3968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宣传方式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核心叙事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「Pixel 是 Google AI 的硬件入口」：Tensor G4 / Gemini Live / Pixel Studio / Pixel Screenshots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硬件话术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硬件参数让位 AI 叙事：① 相机条容纳更大传感器 ② Pro 三摄完整焦段 ③ 标准版超广 12→48MP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软硬耦合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G4 = "first processor running Gemini Nano with multimodality"（多模态是影像 AI 的前提）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产品线动作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拆分 6.3"（Pro）/ 6.8"（Pro XL），小尺寸首次获得完整 Pro 影像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重点 AI 功能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Add Me / Pixel Studio / Magic Editor-Reimagine / Zoom Enhance（Pro 独享 30x）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视频亮点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SuperRes Zoom Video 20x（Pro）/ Night Sight Video / 8K（Video Boost 云端）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77840"/>
            <a:ext cx="73152" cy="9144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577840"/>
            <a:ext cx="11082528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系列总结：从「硬件叙事」转向「AI 叙事」的转折代 ─ 硬件提供稳定输入端，差异化由 AI / Gemini 拉开</a:t>
            </a:r>
          </a:p>
          <a:p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定位：用更强硬件 + AI 编辑解决「拍不好、拍不全、拍完想补救」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10 系列 ─ 发布会硬件宣传方式（补齐）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Made by Google 2025.08.20, Brooklyn｜Jimmy Fallon 主持，Stephen Curry / Lando Norris 站台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508760"/>
          <a:ext cx="1115568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93268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宣传方式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核心叙事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G5 + Gemini Nano = 拍摄全流程：拍前构图（Camera Coach）/ 拍中变焦（Pro Res Zoom）/ 拍后自然语言编辑（Ask Photos）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芯片话术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五年最大升级：首次 TSMC 3nm（N3E）/ TPU +60% / CPU +34% / 全新 ISP（10-bit + motion deblur 默认开启）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传感器话术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标准版关键升级 = 5x 长焦下放；主摄 50→48MP、超广 48→13MP ─ 预算让位给长焦 + Tensor G5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核心爆点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100x Pro Res Zoom（Pro 独享）：G5 全新 ISP 跑 single-step diffusion，完全 on-device 秒级出图</a:t>
                      </a:r>
                    </a:p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"the largest model ever to run in Pixel Camera"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重点 AI 功能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Camera Coach（需联网）/ Auto Best Take（150 帧）/ Ask Photos / Add Me 升级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真实性叙事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C2PA 凭证全流程 on-device（G5 + Titan M2）；Pro Res Zoom 检测到人脸即禁用生成式 AI（guardrail）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989320"/>
            <a:ext cx="73152" cy="6858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989320"/>
            <a:ext cx="11082528" cy="6858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50" b="1">
                <a:solidFill>
                  <a:srgbClr val="202124"/>
                </a:solidFill>
                <a:latin typeface="微软雅黑"/>
                <a:ea typeface="微软雅黑"/>
              </a:rPr>
              <a:t>系列总结：「拍后修」→「全流程介入」的范式转折，「硬件为 AI 输入端」最彻底的一代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9 vs Pixel 10 ─ 标准版对比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标准版最大变化：长焦补齐，主摄/超广让位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291840"/>
                <a:gridCol w="3566160"/>
                <a:gridCol w="28346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模组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Pixel 9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Pixel 10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变化判断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后摄系统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双摄（50 主 + 48 超广）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三摄（48 主 + 13 超广 + 10.8 5x 长焦）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★最大升级：新增 5x 长焦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主摄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 OctaPD, f/1.68, 1/1.31"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 QuadPD, f/1.70, 1/2"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▼传感器规格反而更小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超广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 QuadPD, f/1.7, 1/2.55", AF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13MP, f/2.2, 120°, 1/3.1"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▼明显降档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长焦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无；SuperRes Zoom 8x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10.8MP 5x, OIS, SuperRes Zoom 20x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★焦段补齐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前摄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10.5MP DualPD, AF, 95°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同左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延续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视频变焦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数字 7x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数字 20x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远摄视频增强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77840"/>
            <a:ext cx="73152" cy="73152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577840"/>
            <a:ext cx="11082528" cy="73152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50" b="1">
                <a:solidFill>
                  <a:srgbClr val="202124"/>
                </a:solidFill>
                <a:latin typeface="微软雅黑"/>
                <a:ea typeface="微软雅黑"/>
              </a:rPr>
              <a:t>判断：「降两颗、加一颗」是主动 BOM 重分配 ─ 焦段完整性的用户感知 &gt; 主摄底大小的参数感知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4285F4"/>
                </a:solidFill>
                <a:latin typeface="微软雅黑"/>
                <a:ea typeface="微软雅黑"/>
              </a:rP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Pixel 9 vs Pixel 10 ─ Pro / Pro XL 对比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Pro 版硬件停滞，AI 把可宣传能力推到 100x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8039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3383280"/>
                <a:gridCol w="3474720"/>
                <a:gridCol w="28346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模组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Pixel 9 Pro / XL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Pixel 10 Pro / XL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变化判断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后摄系统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 + 48 + 48（5x）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 + 48 + 48（5x）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硬件架构延续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主摄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f/1.68, 1/1.31"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50MP, f/1.68, 1/1.3"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几乎不变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超广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48MP, f/1.7, 1/2.55"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同左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长焦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48MP 5x, f/2.8, 1/2.55"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同左 + OIS 增强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重心转 ProZoom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前摄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42MP DualPD, AF, 103°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同左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不变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照片变焦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SuperRes Zoom 30x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ProZoom 100x（diffusion + Tensor G5）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★Pro 最大升级：AI 长焦链路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493776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视频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8K VideoBoost、20x SuperRes Video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同左 + 更强稳定性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防抖宣传增强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760720"/>
            <a:ext cx="73152" cy="6858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760720"/>
            <a:ext cx="11082528" cy="6858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300" b="1">
                <a:solidFill>
                  <a:srgbClr val="202124"/>
                </a:solidFill>
                <a:latin typeface="微软雅黑"/>
                <a:ea typeface="微软雅黑"/>
              </a:rPr>
              <a:t>★ 核心范式：「硬件停滞」+「AI 把同一套硬件可宣传能力推高 3 倍（30x→100x）」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4A853"/>
                </a:solidFill>
                <a:latin typeface="微软雅黑"/>
                <a:ea typeface="微软雅黑"/>
              </a:rP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PM 视角｜四阶段进化模型（含组织证据）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阶段划分 + 商业与人事佐证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2514600" cy="41148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42646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阶段一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783080"/>
            <a:ext cx="2514600" cy="11430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874519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Pixel 1–3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2016–2018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23774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单摄证明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「软件重构摄影」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017520" y="1920240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F6368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337560" y="1371600"/>
            <a:ext cx="2514600" cy="41148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37560" y="142646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阶段二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337560" y="1783080"/>
            <a:ext cx="2514600" cy="11430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1874519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Pixel 4–5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2019–2020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23774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硬件补焦段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「方向摇摆」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52160" y="1920240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F6368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72200" y="1371600"/>
            <a:ext cx="2514600" cy="41148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72200" y="142646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阶段三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83080"/>
            <a:ext cx="2514600" cy="11430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63640" y="1874519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Pixel 6–8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2021–2023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63640" y="23774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自研芯片重启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「50MP 黄金平台」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86800" y="1920240"/>
            <a:ext cx="34747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600" b="1">
                <a:solidFill>
                  <a:srgbClr val="5F6368"/>
                </a:solidFill>
                <a:latin typeface="微软雅黑"/>
                <a:ea typeface="微软雅黑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06840" y="1371600"/>
            <a:ext cx="2514600" cy="41148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06840" y="1426464"/>
            <a:ext cx="2514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阶段四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06840" y="1783080"/>
            <a:ext cx="2514600" cy="11430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98280" y="1874519"/>
            <a:ext cx="23317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Pixel 9–10</a:t>
            </a:r>
          </a:p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F6368"/>
                </a:solidFill>
                <a:latin typeface="微软雅黑"/>
                <a:ea typeface="微软雅黑"/>
              </a:rPr>
              <a:t>2024–2025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8280" y="2377440"/>
            <a:ext cx="233172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AI 输入端</a:t>
            </a:r>
          </a:p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「全流程介入」</a:t>
            </a:r>
          </a:p>
        </p:txBody>
      </p:sp>
      <p:graphicFrame>
        <p:nvGraphicFramePr>
          <p:cNvPr id="30" name="Table 29"/>
          <p:cNvGraphicFramePr>
            <a:graphicFrameLocks noGrp="1"/>
          </p:cNvGraphicFramePr>
          <p:nvPr/>
        </p:nvGraphicFramePr>
        <p:xfrm>
          <a:off x="502920" y="3200400"/>
          <a:ext cx="11155677" cy="22311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2926079"/>
                <a:gridCol w="3291839"/>
                <a:gridCol w="2926079"/>
              </a:tblGrid>
              <a:tr h="329184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核心假设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关键动作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阶段产物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① 计算摄影证明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软件可以重构手机摄影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单摄 + HDR+ + 多帧合成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DXO 击败双/三/四摄旗舰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② 硬件补焦段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算法不能完全替代焦段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4 加长焦、5 换超广，路线摇摆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商业失败（P4 两季度约 200 万台）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③ 自研芯片驱动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需要影像平台展示 AI/ISP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 黄金平台多代复用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算法长期调教 + 生成式 AI 爆发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④ 全流程 AI 介入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= Google AI 硬件入口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硬件趋稳，AI 推高可宣传上限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ProZoom 100x / Camera Coach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31" name="Rectangle 30"/>
          <p:cNvSpPr/>
          <p:nvPr/>
        </p:nvSpPr>
        <p:spPr>
          <a:xfrm>
            <a:off x="502920" y="5715000"/>
            <a:ext cx="73152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76072" y="5715000"/>
            <a:ext cx="11082528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150" b="1">
                <a:solidFill>
                  <a:srgbClr val="202124"/>
                </a:solidFill>
                <a:latin typeface="微软雅黑"/>
                <a:ea typeface="微软雅黑"/>
              </a:rPr>
              <a:t>●组织铁证：HDR+/Night Sight 之父 Marc Levoy 2020 年 3 月离职（后任 Adobe 副总裁），时点正在 Pixel 4 商业失败之后、</a:t>
            </a:r>
          </a:p>
          <a:p>
            <a:r>
              <a:rPr sz="1150" b="1">
                <a:solidFill>
                  <a:srgbClr val="202124"/>
                </a:solidFill>
                <a:latin typeface="微软雅黑"/>
                <a:ea typeface="微软雅黑"/>
              </a:rPr>
              <a:t>Pixel 6 立项之时 ─「纯软件路线」的终结不只是技术到顶，更是商业失败 + 团队重组；Pixel 6 硬件重启本质是纠错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4A853"/>
                </a:solidFill>
                <a:latin typeface="微软雅黑"/>
                <a:ea typeface="微软雅黑"/>
              </a:rP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PM 视角｜核心决策与权衡判断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8 个关键决策点的取舍逻辑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47365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3291840"/>
                <a:gridCol w="51206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决策点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取舍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PM 判断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4 选长焦不选超广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长焦 =「Pixel 化」人像/远景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押错方向：超广 2020 已成必需，焦段受损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5 砍长焦换超广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跟随主流必需配置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修正方向，代价是路线摇摆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6 启动黄金平台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 1/1.31" + Tensor 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★历史性决策：对商业失败的纠错 + 4 代复用底座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6–9 主摄不换底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稳定 4 代便于长期算法调教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与国产「逐代换大底」反向：Quad Bayer 平衡 HDR/暗光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8 全面升光量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GN2 + 超广/长焦像素翻倍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为生成式 AI 喂素材（Best Take / Magic Editor）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9 Pro 拆双尺寸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6.3" / 6.8" 同一套 Pro 相机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拆需求层；模组空间约束超广无法上大底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10 标准版降配增焦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主摄/超广降档 + 5x 长焦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★焦段完整性 &gt; 单颗规格；也是对行业长焦下放趋势的跟进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10 Pro 硬件不动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100x 全靠 Tensor G5 + diffusion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★硬件趋稳 → AI 推高上限，黄金平台策略奏效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A4335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核心结论（交叉验证修订版）─ 上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▲= 经交叉验证修正的结论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1143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285F4"/>
                </a:solidFill>
                <a:latin typeface="微软雅黑"/>
                <a:ea typeface="微软雅黑"/>
              </a:rPr>
              <a:t>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硬件优先级：主摄 &gt; 长焦 &gt; 超广（Pro 例外）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7393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主摄定下限，长焦定 Pro 溢价与宣传上限，超广定焦段完整性；Pro 版把超广作为 Macro 与三摄完整体验的补足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70048"/>
            <a:ext cx="82296" cy="1143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4335"/>
                </a:solidFill>
                <a:latin typeface="微软雅黑"/>
                <a:ea typeface="微软雅黑"/>
              </a:rPr>
              <a:t>②▲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70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黄金平台策略奏效 ─ 但有可测量的天花板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7238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DXOMARK：Pixel 10 Pro XL 163 分仅全球第 4，落后华为 Pura 80 Ultra / Oppo Find X8 Ultra / vivo X200 Ultra（1 英寸大底阵营）。调教保第一梯队但拿不了第一 ─ Google 主动放弃画质榜军备竞赛，改打「AI 功能可感知度」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68496"/>
            <a:ext cx="82296" cy="1143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68496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4335"/>
                </a:solidFill>
                <a:latin typeface="微软雅黑"/>
                <a:ea typeface="微软雅黑"/>
              </a:rPr>
              <a:t>③▲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684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P10 标准版降档 = 预算让位；但长焦下放是行业趋同，非 Google 引领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7083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iPhone 15 Pro Max 5x tetraprism（2023）、三星双长焦、2025 潜望下探中端 ─「长焦是未来方向」应修正为「长焦已是高端标配，P10 是补行业课 + 给 AI Zoom 喂光学起点」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66944"/>
            <a:ext cx="82296" cy="1143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6694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4A853"/>
                </a:solidFill>
                <a:latin typeface="微软雅黑"/>
                <a:ea typeface="微软雅黑"/>
              </a:rPr>
              <a:t>④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26694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Pro 硬件 4 代不变、AI 独立承担差异化 ─ 有第三方实证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669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DXOMARK 确认 10 Pro XL 与 9 Pro XL 相机模组完全相同，但成绩显著提升（归因 G5 新 ISP）─「同硬件、软件提分」获测试机构背书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A4335"/>
                </a:solidFill>
                <a:latin typeface="微软雅黑"/>
                <a:ea typeface="微软雅黑"/>
              </a:rP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核心结论（交叉验证修订版）─ 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●= 交叉验证后新增的结论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371600"/>
            <a:ext cx="82296" cy="11430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371600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EA4335"/>
                </a:solidFill>
                <a:latin typeface="微软雅黑"/>
                <a:ea typeface="微软雅黑"/>
              </a:rPr>
              <a:t>⑤▲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3716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「硬件 for 软件」需分三层：营销层 / 产品层 / 公司层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00200" y="1773936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营销层：硬件为 AI 功能服务（成立）；产品层：硬件投入压到支撑 AI 叙事的最低水平（全球份额 ~1%，BOM 克制）；公司层：Pixel = Google AI 的 halo device（北美份额 4.8%→12.8%，高端增速 105% YoY 全球第一）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2670048"/>
            <a:ext cx="82296" cy="11430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670048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BBC05"/>
                </a:solidFill>
                <a:latin typeface="微软雅黑"/>
                <a:ea typeface="微软雅黑"/>
              </a:rPr>
              <a:t>⑥●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70048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视频是「软件补硬件」的失效反例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00200" y="3072384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低光视频/动态范围多年落后 iPhone；Video Boost 云端处理最长近 20h/条，三代后仍被评「beta」─ 算法无法端侧实时完成时此路不通；G5 全新 ISP（10-bit 默认）是用真硬件还视频欠账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968496"/>
            <a:ext cx="82296" cy="11430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68496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34A853"/>
                </a:solidFill>
                <a:latin typeface="微软雅黑"/>
                <a:ea typeface="微软雅黑"/>
              </a:rPr>
              <a:t>⑦●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968496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调教北极星："They're memories, not photos"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00200" y="4370832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Pixel Camera 负责人 Isaac Reynolds：从「图像处理」转向「记忆重建」；The Pixel Look（暗部对比强、高光严格保护）是故意的品牌资产 ─ 所有软硬件投入最终服务「更自信的拍摄者 + 更美的记忆」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266944"/>
            <a:ext cx="82296" cy="11430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66944"/>
            <a:ext cx="777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4285F4"/>
                </a:solidFill>
                <a:latin typeface="微软雅黑"/>
                <a:ea typeface="微软雅黑"/>
              </a:rPr>
              <a:t>⑧●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5266944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202124"/>
                </a:solidFill>
                <a:latin typeface="微软雅黑"/>
                <a:ea typeface="微软雅黑"/>
              </a:rPr>
              <a:t>真实性悖论是战略级风险，Google 预先把风险变卖点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566928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50" b="0">
                <a:solidFill>
                  <a:srgbClr val="5F6368"/>
                </a:solidFill>
                <a:latin typeface="微软雅黑"/>
                <a:ea typeface="微软雅黑"/>
              </a:rPr>
              <a:t>Best Take 被批「保存从未发生的时刻」（Washington Post）；应对组合拳：人脸生成 guardrail + C2PA 全流程 on-device + "true to your memory" 话术 ─ 把行业争议预先转化为信任优势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A4335"/>
                </a:solidFill>
                <a:latin typeface="微软雅黑"/>
                <a:ea typeface="微软雅黑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影像调教哲学（●新增）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来自 Google Research 技术博客与核心人物访谈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5669280"/>
                <a:gridCol w="32918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调教策略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技术细节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来源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刻意欠曝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HDR+ 按快门捕捉 3–15 帧全部欠曝，保高光不过曝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Google Research（HDR+ with Bracketing）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局部色调映射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按区域亮度/纹理/噪声施加不同曲线，"detail everywhere"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Google Research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风格故意「浓郁」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暗部深、对比强的 dramatic look 是设计选择："distinct and cool and fresh"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Isaac Reynolds 访谈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包围曝光补暗部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5 起 HDR+ with Bracketing 解决欠曝带来的暗部噪声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Google Research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虚化超越物理镜头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人像虚化「不受真实镜头限制」，比真实光学更可控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Isaac Reynolds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Real Tone 进 ISP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与有色人种影像专家合作扩充训练集，调教面部检测/白平衡/曝光；G5 ISP 继续强化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Google I/O 2021 / Image Equity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人脸生成 guardrail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Res Zoom 30x 以上才启用生成式 AI，检测到人脸即退回传统超分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DPReview 实测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623560"/>
            <a:ext cx="73152" cy="9144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623560"/>
            <a:ext cx="11082528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哲学三段论：拍到（capture, P1–5 Levoy 时代）→ 拍好（process, P6–9）→ 记忆（recreate, P10–）</a:t>
            </a:r>
          </a:p>
          <a:p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Reynolds 内部使命："Create more confident photographers and more beautiful memories."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A4335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硬件 for 软件｜三层拆解（▲修正）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不是单层结论：营销层 / 产品层 / 公司层 + 反例边界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78" cy="23225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39"/>
                <a:gridCol w="4023360"/>
                <a:gridCol w="5669279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层级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表述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关键证据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营销层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硬件为 AI 功能服务（成立）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每代硬件升级点对应 AI 功能落地点（见 12 节映射表）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产品层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硬件投入压到「支撑 AI 叙事的最低水平」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全球份额 ~1% → BOM 克制、平台多代复用、预算转向自研芯片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公司层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= Google AI 的 halo device + 试验场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北美份额 4.8%→12.8%（P9 后翻倍）；2025 高端增速 105% YoY 全球最快；技术反哺 Android 生态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02920" y="3977639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202124"/>
                </a:solidFill>
                <a:latin typeface="微软雅黑"/>
                <a:ea typeface="微软雅黑"/>
              </a:rPr>
              <a:t>反例与边界（●新增）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02920" y="4389120"/>
          <a:ext cx="11155680" cy="16642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754880"/>
                <a:gridCol w="365760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边界</a:t>
                      </a:r>
                    </a:p>
                  </a:txBody>
                  <a:tcPr marL="54864" marR="54864" marT="18288" marB="18288" anchor="ctr">
                    <a:solidFill>
                      <a:srgbClr val="5F63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证据</a:t>
                      </a:r>
                    </a:p>
                  </a:txBody>
                  <a:tcPr marL="54864" marR="54864" marT="18288" marB="18288" anchor="ctr">
                    <a:solidFill>
                      <a:srgbClr val="5F6368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Google 的应对</a:t>
                      </a:r>
                    </a:p>
                  </a:txBody>
                  <a:tcPr marL="54864" marR="54864" marT="18288" marB="18288" anchor="ctr">
                    <a:solidFill>
                      <a:srgbClr val="5F6368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视频：「软件补硬件」失效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Video Boost 云端最长 20h/条，三代仍像 beta；低光视频落后 iPhone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G5 全新 ISP 用「真硬件」还欠账（10-bit 默认）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65836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画质榜：「调教补大底」失效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DXOMARK 第 4，落后 3 家 1 英寸大底国产旗舰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不堆硬件，改变战场 ─ 比「AI 功能可感知度」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BBC05"/>
                </a:solidFill>
                <a:latin typeface="微软雅黑"/>
                <a:ea typeface="微软雅黑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硬件 for 软件｜服务的三大软件叙事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影像是 AI 叙事中最容易被用户感知的一环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17320"/>
            <a:ext cx="3611880" cy="77724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4904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叙事 A｜Google AI 个人助手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4708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Pixel = AI 入口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194560"/>
            <a:ext cx="3611880" cy="32918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37160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Gemini Nano on-device（多模态）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Gemini Live 实时对话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Pixel Studio 端侧生图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Pixel Screenshots 截图理解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Magic Cue / Voice Translate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417320"/>
            <a:ext cx="3611880" cy="77724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4904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叙事 B｜生成式 AI 影像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184708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Pixel = AI 影像创作平台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97680" y="2194560"/>
            <a:ext cx="3611880" cy="32918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37160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拍前：Camera Coach（Gemini 指导）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拍中：Pro Res Zoom 100x（diffusion）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拍中：Auto Best Take（150 帧分析）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拍后：Magic Editor / Ask Photos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拍后：Add Me / Zoom Enhance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417320"/>
            <a:ext cx="3611880" cy="77724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0" y="1490472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FFFFF"/>
                </a:solidFill>
                <a:latin typeface="微软雅黑"/>
                <a:ea typeface="微软雅黑"/>
              </a:rPr>
              <a:t>叙事 C｜可信 / 包容性影像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1847088"/>
            <a:ext cx="33375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0">
                <a:solidFill>
                  <a:srgbClr val="FFFFFF"/>
                </a:solidFill>
                <a:latin typeface="微软雅黑"/>
                <a:ea typeface="微软雅黑"/>
              </a:rPr>
              <a:t>Pixel = 负责任的 AI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92440" y="2194560"/>
            <a:ext cx="3611880" cy="329184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64592" rIns="109728" tIns="137160"/>
          <a:lstStyle/>
          <a:p>
            <a:pPr algn="ctr"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C2PA Content Credentials（on-device）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Real Tone 多肤色准确还原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人脸生成 guardrail</a:t>
            </a:r>
          </a:p>
          <a:p>
            <a:pPr>
              <a:lnSpc>
                <a:spcPct val="125000"/>
              </a:lnSpc>
            </a:pPr>
            <a:r>
              <a:rPr sz="1100" b="0">
                <a:solidFill>
                  <a:srgbClr val="202124"/>
                </a:solidFill>
                <a:latin typeface="微软雅黑"/>
                <a:ea typeface="微软雅黑"/>
              </a:rPr>
              <a:t>● Guided Frame 低视力辅助拍摄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5806440"/>
            <a:ext cx="73152" cy="68580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76072" y="5806440"/>
            <a:ext cx="11082528" cy="6858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50" b="1">
                <a:solidFill>
                  <a:srgbClr val="202124"/>
                </a:solidFill>
                <a:latin typeface="微软雅黑"/>
                <a:ea typeface="微软雅黑"/>
              </a:rPr>
              <a:t>硬件不只是为「手机上的软件」服务，更是为「证明 Google AI 领先」这个公司级叙事服务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BBC05"/>
                </a:solidFill>
                <a:latin typeface="微软雅黑"/>
                <a:ea typeface="微软雅黑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硬件 for 软件｜核心支撑映射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每一个硬件升级点 = 一个 AI 功能落地点（含官方原话）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49560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06240"/>
                <a:gridCol w="42976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硬件</a:t>
                      </a:r>
                    </a:p>
                  </a:txBody>
                  <a:tcPr marL="54864" marR="54864" marT="18288" marB="18288" anchor="ctr">
                    <a:solidFill>
                      <a:srgbClr val="FBBC0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直接支撑的 AI / 软件功能</a:t>
                      </a:r>
                    </a:p>
                  </a:txBody>
                  <a:tcPr marL="54864" marR="54864" marT="18288" marB="18288" anchor="ctr">
                    <a:solidFill>
                      <a:srgbClr val="FBBC0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论证（官方语言）</a:t>
                      </a:r>
                    </a:p>
                  </a:txBody>
                  <a:tcPr marL="54864" marR="54864" marT="18288" marB="18288" anchor="ctr">
                    <a:solidFill>
                      <a:srgbClr val="FBBC05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G3 TPU（P8）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Best Take / Magic Editor on-device 生成式 inpainting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"paving the way for on-device generative AI"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G4 多模态（P9）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Add Me / Pixel Studio / Zoom Enhance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"first processor running Gemini Nano with multimodality"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G5 全新 ISP（P10）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Res Zoom 100x（diffusion on-device）/ 10-bit 视频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"the largest model ever to run in Pixel Camera"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G5 + Titan M2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C2PA Content Credentials 全流程 on-device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"full process takes place on-device"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50MP Quad Bayer 主摄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默认输出 12.5MP，四合一保留低光素材给 ML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稳定平台上迭代计算摄影模型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GN2 主摄 +35% 光（P8）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Video Boost / Night Sight Video 的原材料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"pairs Tensor G3 with our powerful data centers"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5x 长焦下放（P10 标准版）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SuperRes Zoom 20x + AI Zoom 的光学起点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生成式变焦需要光学起点，纯算法天花板低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超广 AF（P8 起）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Macro Focus 下放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硬件 + 算法联合实现微距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512064">
                <a:tc>
                  <a:txBody>
                    <a:bodyPr wrap="square"/>
                    <a:lstStyle/>
                    <a:p>
                      <a:r>
                        <a:rPr sz="100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数据中心（云）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Video Boost / Night Sight Video（云端补端侧）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0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每分钟视频 = 1800 张照片量级的云端处理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BBC05"/>
                </a:solidFill>
                <a:latin typeface="微软雅黑"/>
                <a:ea typeface="微软雅黑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Tensor ↔ 影像 AI 功能演进对照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每一代芯片跃进 = 每一代 AI 功能跃迁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17320"/>
          <a:ext cx="11155680" cy="39136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/>
                <a:gridCol w="1737360"/>
                <a:gridCol w="3291840"/>
                <a:gridCol w="466344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芯片</a:t>
                      </a:r>
                    </a:p>
                  </a:txBody>
                  <a:tcPr marL="54864" marR="54864" marT="18288" marB="18288" anchor="ctr">
                    <a:solidFill>
                      <a:srgbClr val="FBBC0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机型 / 年份</a:t>
                      </a:r>
                    </a:p>
                  </a:txBody>
                  <a:tcPr marL="54864" marR="54864" marT="18288" marB="18288" anchor="ctr">
                    <a:solidFill>
                      <a:srgbClr val="FBBC0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工艺与性能</a:t>
                      </a:r>
                    </a:p>
                  </a:txBody>
                  <a:tcPr marL="54864" marR="54864" marT="18288" marB="18288" anchor="ctr">
                    <a:solidFill>
                      <a:srgbClr val="FBBC0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5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影像 AI 功能跃迁</a:t>
                      </a:r>
                    </a:p>
                  </a:txBody>
                  <a:tcPr marL="54864" marR="54864" marT="18288" marB="18288" anchor="ctr">
                    <a:solidFill>
                      <a:srgbClr val="FBBC05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G1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6（2021）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Samsung 5nm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奠基：Real Tone / Magic Eraser / Motion Mode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G2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7（2022）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Samsung 5nm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Photo Unblur / Cinematic Blur / Guided Frame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G3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8（2023）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Samsung 4nm｜"AI-first processor"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★on-device 生成式 AI 起点：Best Take / Magic Editor / Video Boost（端云）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G4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9（2024）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Samsung 4nm｜Gemini Nano 多模态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★Add Me / Pixel Studio / Reimagine / SuperRes Zoom 30x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713232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Tensor G5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10（2025）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TSMC 3nm N3E｜TPU+60% CPU+34%｜全新 ISP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★diffusion on-device：ProZoom 100x / Camera Coach / Auto Best Take / C2PA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577840"/>
            <a:ext cx="73152" cy="9144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577840"/>
            <a:ext cx="11082528" cy="91440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50" b="1">
                <a:solidFill>
                  <a:srgbClr val="202124"/>
                </a:solidFill>
                <a:latin typeface="微软雅黑"/>
                <a:ea typeface="微软雅黑"/>
              </a:rPr>
              <a:t>规律：芯片跃进 → AI 功能跃迁 → 传感器趋稳甚至降档（P10 主摄 1/2"）</a:t>
            </a:r>
          </a:p>
          <a:p>
            <a:r>
              <a:rPr sz="1250" b="1">
                <a:solidFill>
                  <a:srgbClr val="202124"/>
                </a:solidFill>
                <a:latin typeface="微软雅黑"/>
                <a:ea typeface="微软雅黑"/>
              </a:rPr>
              <a:t>硬件预算从「传感器」转移到「SoC / ISP / TPU / AI 模型部署」─「硬件为软件服务」最强力的实证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EA4335"/>
                </a:solidFill>
                <a:latin typeface="微软雅黑"/>
                <a:ea typeface="微软雅黑"/>
              </a:rPr>
              <a:t>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第三方交叉验证：DXOMARK 数据（●新增）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既是「硬件 for 软件」最硬的证据，也是它边界的最硬证据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80" cy="38221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5303520"/>
                <a:gridCol w="34747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发现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数据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对结论的作用</a:t>
                      </a:r>
                    </a:p>
                  </a:txBody>
                  <a:tcPr marL="54864" marR="54864" marT="18288" marB="18288" anchor="ctr">
                    <a:solidFill>
                      <a:srgbClr val="EA4335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「同硬件、软件提分」实证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 Pro XL 与 9 Pro XL 相机模组完全相同，但总分/曝光/色彩/肤色显著提升（归因 G5 ISP 更细粒度对象分割）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✔ 支撑「硬件 for 软件」与黄金平台策略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画质榜天花板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Pixel 10 Pro XL 163 分全球第 4，落后华为 Pura 80 Ultra / Oppo Find X8 Ultra / vivo X200 Ultra（1 英寸大底阵营）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▲ 限定：调教补不齐大底差距，Google 主动不打这一仗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9 代际提升点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9 Pro XL vs 8 Pro：逆光保高光同时主体曝光准确，业界第一梯队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✔ The Pixel Look 调教哲学的实测体现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 代际提升点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 Pro XL vs 9 Pro XL：肤色更自然（9 偏橙、10 中性）、白平衡更准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✔ Real Tone 进 G5 ISP 流水线的实测体现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502920" y="5486400"/>
            <a:ext cx="73152" cy="822960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76072" y="5486400"/>
            <a:ext cx="11082528" cy="8229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09728"/>
          <a:lstStyle/>
          <a:p>
            <a:pPr algn="ctr"/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PM 读法：支撑证据与天花板证据必须同时讲，结论才完整 ─</a:t>
            </a:r>
          </a:p>
          <a:p>
            <a:r>
              <a:rPr sz="1200" b="1">
                <a:solidFill>
                  <a:srgbClr val="202124"/>
                </a:solidFill>
                <a:latin typeface="微软雅黑"/>
                <a:ea typeface="微软雅黑"/>
              </a:rPr>
              <a:t>「稳定硬件 + 调教」保第一梯队但拿不了第一；Google 的选择是改变战场，比「AI 功能可感知度」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34A853"/>
                </a:solidFill>
                <a:latin typeface="微软雅黑"/>
                <a:ea typeface="微软雅黑"/>
              </a:rPr>
              <a:t>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未来路径预测（PM 视角）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短期（Pixel 11/12）与中期（2 年外）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4285F4"/>
                </a:solidFill>
                <a:latin typeface="微软雅黑"/>
                <a:ea typeface="微软雅黑"/>
              </a:rPr>
              <a:t>短期：Pixel 11 / 12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783080"/>
          <a:ext cx="5486400" cy="3346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29768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预测</a:t>
                      </a:r>
                    </a:p>
                  </a:txBody>
                  <a:tcPr marL="54864" marR="54864" marT="18288" marB="18288" anchor="ctr">
                    <a:solidFill>
                      <a:srgbClr val="4285F4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传感器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三件套（50+48+48 5x）几乎不变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ISP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G6 继续承担差异化；视频是最大欠账，on-device Video Boost 预计是下一个主打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AI 功能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「拍前」加重：Camera Coach 从建议走向实时取景介入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749808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标准版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保留长焦；与 Pro 硬件差距收窄，靠 ProZoom / Pro Controls 拉差异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355080" y="1371600"/>
            <a:ext cx="5486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34A853"/>
                </a:solidFill>
                <a:latin typeface="微软雅黑"/>
                <a:ea typeface="微软雅黑"/>
              </a:rPr>
              <a:t>中期：2 年外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6355080" y="1783080"/>
          <a:ext cx="5349240" cy="30906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4160520"/>
              </a:tblGrid>
              <a:tr h="347472"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维度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</a:rPr>
                        <a:t>预测</a:t>
                      </a:r>
                    </a:p>
                  </a:txBody>
                  <a:tcPr marL="54864" marR="54864" marT="18288" marB="18288" anchor="ctr">
                    <a:solidFill>
                      <a:srgbClr val="34A853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生成式成像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100x 之后是「可控生成」：自然语言指导内容/风格/构图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真实性博弈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C2PA + 端侧凭证成行业标配，Pixel 提前布局获得话语权</a:t>
                      </a:r>
                    </a:p>
                  </a:txBody>
                  <a:tcPr marL="54864" marR="54864" marT="18288" marB="18288" anchor="ctr">
                    <a:solidFill>
                      <a:srgbClr val="F8F9FA"/>
                    </a:solidFill>
                  </a:tcPr>
                </a:tc>
              </a:tr>
              <a:tr h="914400">
                <a:tc>
                  <a:txBody>
                    <a:bodyPr wrap="square"/>
                    <a:lstStyle/>
                    <a:p>
                      <a:r>
                        <a:rPr sz="1050" b="1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Pro 边界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050" b="0">
                          <a:solidFill>
                            <a:srgbClr val="202124"/>
                          </a:solidFill>
                          <a:latin typeface="微软雅黑"/>
                          <a:ea typeface="微软雅黑"/>
                        </a:rPr>
                        <a:t>AI 弥补硬件差异后，「Pro」可能退回尺寸/续航/材质分层</a:t>
                      </a:r>
                    </a:p>
                  </a:txBody>
                  <a:tcPr marL="54864" marR="54864" marT="18288" marB="18288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021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1371600"/>
            <a:ext cx="384048" cy="109728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1371600"/>
            <a:ext cx="384048" cy="109728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508760" y="1371600"/>
            <a:ext cx="384048" cy="109728"/>
          </a:xfrm>
          <a:prstGeom prst="rect">
            <a:avLst/>
          </a:prstGeom>
          <a:solidFill>
            <a:srgbClr val="FBBC0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011680" y="1371600"/>
            <a:ext cx="384048" cy="109728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「Pixel 不是一台拍照手机，是 Google AI 的硬件入口；</a:t>
            </a:r>
          </a:p>
          <a:p>
            <a:pPr algn="l">
              <a:lnSpc>
                <a:spcPct val="135000"/>
              </a:lnSpc>
            </a:pPr>
            <a:r>
              <a:rPr sz="2800" b="1">
                <a:solidFill>
                  <a:srgbClr val="FFFFFF"/>
                </a:solidFill>
                <a:latin typeface="微软雅黑"/>
                <a:ea typeface="微软雅黑"/>
              </a:rPr>
              <a:t>  而影像的北极星不是画质榜，是『记忆』。」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977639"/>
            <a:ext cx="111556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600" b="0">
                <a:solidFill>
                  <a:srgbClr val="BDC1C6"/>
                </a:solidFill>
                <a:latin typeface="微软雅黑"/>
                <a:ea typeface="微软雅黑"/>
              </a:rPr>
              <a:t>主摄保下限，长焦撑溢价，超广补完整性；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BDC1C6"/>
                </a:solidFill>
                <a:latin typeface="微软雅黑"/>
                <a:ea typeface="微软雅黑"/>
              </a:rPr>
              <a:t>画质第一让给大底阵营，AI 可感知度自己拿走；</a:t>
            </a:r>
          </a:p>
          <a:p>
            <a:pPr algn="l">
              <a:lnSpc>
                <a:spcPct val="150000"/>
              </a:lnSpc>
            </a:pPr>
            <a:r>
              <a:rPr sz="1600" b="0">
                <a:solidFill>
                  <a:srgbClr val="BDC1C6"/>
                </a:solidFill>
                <a:latin typeface="微软雅黑"/>
                <a:ea typeface="微软雅黑"/>
              </a:rPr>
              <a:t>硬件让位、AI 接管、真实性风险预先变卖点 ─ 这是 Pixel 10 完成的范式。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384048"/>
            <a:ext cx="91440" cy="566928"/>
          </a:xfrm>
          <a:prstGeom prst="rect">
            <a:avLst/>
          </a:prstGeom>
          <a:solidFill>
            <a:srgbClr val="5F636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347472"/>
            <a:ext cx="1371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5F6368"/>
                </a:solidFill>
                <a:latin typeface="微软雅黑"/>
                <a:ea typeface="微软雅黑"/>
              </a:rPr>
              <a:t>附录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74519" y="347472"/>
            <a:ext cx="96926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300" b="1">
                <a:solidFill>
                  <a:srgbClr val="202124"/>
                </a:solidFill>
                <a:latin typeface="微软雅黑"/>
                <a:ea typeface="微软雅黑"/>
              </a:rPr>
              <a:t>资料来源（多来源交叉论证）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74519" y="932688"/>
            <a:ext cx="9692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5F6368"/>
                </a:solidFill>
                <a:latin typeface="微软雅黑"/>
                <a:ea typeface="微软雅黑"/>
              </a:rPr>
              <a:t>官方 / 技术博客 / 人物访谈 / 发布会 / 第三方测评与市场数据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3611880" cy="457200"/>
          </a:xfrm>
          <a:prstGeom prst="rect">
            <a:avLst/>
          </a:prstGeom>
          <a:solidFill>
            <a:srgbClr val="4285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4533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Google 官方 / 技术博客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920240"/>
            <a:ext cx="3611880" cy="4023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137160"/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blog.google – Tensor G5 / Tensor G3 / Pixel 8 Pro Camera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Google Research – HDR+ with Bracketing / Live HDR+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blog.google – Image Equity: Real Tone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blog.google – Pro Res Zoom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store.google.com – Pixel 8 Pro / Pixel 10 产品页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611880" cy="457200"/>
          </a:xfrm>
          <a:prstGeom prst="rect">
            <a:avLst/>
          </a:prstGeom>
          <a:solidFill>
            <a:srgbClr val="EA43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154533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人物访谈 / 发布会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97680" y="1920240"/>
            <a:ext cx="3611880" cy="4023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137160"/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DPReview – Marc Levoy 离职报道（2020.5）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9to5Google – Isaac Reynolds「memories not photos」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PetaPixel Podcast – Pixel 团队设计哲学（2025.8）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TechCrunch / 9to5Google – MBG 2023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Tom's Guide – MBG 2024；TechRadar – MBG 2025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092440" y="1463040"/>
            <a:ext cx="3611880" cy="457200"/>
          </a:xfrm>
          <a:prstGeom prst="rect">
            <a:avLst/>
          </a:prstGeom>
          <a:solidFill>
            <a:srgbClr val="34A8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45336"/>
            <a:ext cx="33375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FFFF"/>
                </a:solidFill>
                <a:latin typeface="微软雅黑"/>
                <a:ea typeface="微软雅黑"/>
              </a:rPr>
              <a:t>第三方测评 / 数据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092440" y="1920240"/>
            <a:ext cx="3611880" cy="4023360"/>
          </a:xfrm>
          <a:prstGeom prst="rect">
            <a:avLst/>
          </a:prstGeom>
          <a:solidFill>
            <a:srgbClr val="F1F3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lIns="137160" rIns="109728" tIns="137160"/>
          <a:lstStyle/>
          <a:p>
            <a:pPr algn="ctr"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DXOMARK – P8 Pro / P9 Pro XL / P10 Pro XL（163 分第 4）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DPReview – Pro Res Zoom 实测（人脸 guardrail）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Washington Post – Best Take 真实性争议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PhoneArena / Android Authority – Video Boost 云端 20h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Android Authority – Pixel 高端增速 105% YoY（H1 2025）</a:t>
            </a:r>
          </a:p>
          <a:p>
            <a:pPr>
              <a:lnSpc>
                <a:spcPct val="130000"/>
              </a:lnSpc>
            </a:pPr>
            <a:r>
              <a:rPr sz="1000" b="0">
                <a:solidFill>
                  <a:srgbClr val="202124"/>
                </a:solidFill>
                <a:latin typeface="微软雅黑"/>
                <a:ea typeface="微软雅黑"/>
              </a:rPr>
              <a:t>● PhoneArena – iPhone 15 Pro Max tetraprism（行业长焦）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